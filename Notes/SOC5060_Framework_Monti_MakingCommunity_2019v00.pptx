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7023100" cy="93091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7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10/17/2019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3894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10/17/2019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8078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10/17/2019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4945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10/17/2019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163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10/17/2019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6017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10/17/2019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1225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10/17/2019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1209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10/17/2019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2604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10/17/2019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4871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10/17/2019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3032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F262A-BA9E-4FD4-B7A4-17D33C6E7493}" type="datetimeFigureOut">
              <a:rPr lang="en-US" smtClean="0"/>
              <a:t>10/17/2019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321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CF262A-BA9E-4FD4-B7A4-17D33C6E7493}" type="datetimeFigureOut">
              <a:rPr lang="en-US" smtClean="0"/>
              <a:t>10/17/2019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4740DE-541D-4201-BF7D-47ADAF0EA8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498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1166951" y="326171"/>
            <a:ext cx="9638011" cy="6371112"/>
            <a:chOff x="1166951" y="326171"/>
            <a:chExt cx="9638011" cy="6371112"/>
          </a:xfrm>
        </p:grpSpPr>
        <p:sp>
          <p:nvSpPr>
            <p:cNvPr id="18" name="Rectangle 17"/>
            <p:cNvSpPr/>
            <p:nvPr/>
          </p:nvSpPr>
          <p:spPr>
            <a:xfrm>
              <a:off x="4833633" y="2224876"/>
              <a:ext cx="1371600" cy="137160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scene3d>
              <a:camera prst="isometricLeftDown"/>
              <a:lightRig rig="threePt" dir="t"/>
            </a:scene3d>
            <a:sp3d extrusionH="1270000">
              <a:extrusionClr>
                <a:schemeClr val="bg1">
                  <a:lumMod val="75000"/>
                </a:schemeClr>
              </a:extrusionClr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n-US" dirty="0"/>
                <a:t>Government Approach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844433" y="838737"/>
              <a:ext cx="1371600" cy="1371600"/>
            </a:xfrm>
            <a:prstGeom prst="rect">
              <a:avLst/>
            </a:prstGeom>
            <a:solidFill>
              <a:schemeClr val="accent1"/>
            </a:solidFill>
            <a:scene3d>
              <a:camera prst="isometricLeftDown"/>
              <a:lightRig rig="threePt" dir="t"/>
            </a:scene3d>
            <a:sp3d extrusionH="1270000">
              <a:extrusionClr>
                <a:schemeClr val="accent5">
                  <a:lumMod val="75000"/>
                </a:schemeClr>
              </a:extrusionClr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endParaRPr lang="en-US" dirty="0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110029" y="2959130"/>
              <a:ext cx="1371600" cy="1371600"/>
            </a:xfrm>
            <a:prstGeom prst="rect">
              <a:avLst/>
            </a:prstGeom>
            <a:solidFill>
              <a:srgbClr val="7030A0"/>
            </a:solidFill>
            <a:scene3d>
              <a:camera prst="isometricLeftDown"/>
              <a:lightRig rig="threePt" dir="t"/>
            </a:scene3d>
            <a:sp3d extrusionH="1270000">
              <a:extrusionClr>
                <a:schemeClr val="accent5">
                  <a:lumMod val="50000"/>
                </a:schemeClr>
              </a:extrusionClr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Ethnic Approach</a:t>
              </a:r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110029" y="1562929"/>
              <a:ext cx="1371600" cy="1371600"/>
            </a:xfrm>
            <a:prstGeom prst="rect">
              <a:avLst/>
            </a:prstGeom>
            <a:solidFill>
              <a:schemeClr val="accent1"/>
            </a:solidFill>
            <a:scene3d>
              <a:camera prst="isometricLeftDown"/>
              <a:lightRig rig="threePt" dir="t"/>
            </a:scene3d>
            <a:sp3d extrusionH="1270000">
              <a:extrusionClr>
                <a:schemeClr val="accent5">
                  <a:lumMod val="75000"/>
                </a:schemeClr>
              </a:extrusionClr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2314544" y="3765848"/>
              <a:ext cx="1371600" cy="1371600"/>
            </a:xfrm>
            <a:prstGeom prst="rect">
              <a:avLst/>
            </a:prstGeom>
            <a:scene3d>
              <a:camera prst="isometricLeftDown"/>
              <a:lightRig rig="threePt" dir="t"/>
            </a:scene3d>
            <a:sp3d extrusionH="12700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" name="TextBox 28"/>
            <p:cNvSpPr txBox="1"/>
            <p:nvPr/>
          </p:nvSpPr>
          <p:spPr>
            <a:xfrm rot="19705333">
              <a:off x="5993001" y="4827571"/>
              <a:ext cx="1828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Membership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 rot="2239251">
              <a:off x="7664732" y="4480957"/>
              <a:ext cx="13716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Membership is restricted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 rot="2300708">
              <a:off x="5006913" y="5997297"/>
              <a:ext cx="13716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Membership is open</a:t>
              </a:r>
            </a:p>
          </p:txBody>
        </p:sp>
        <p:sp>
          <p:nvSpPr>
            <p:cNvPr id="32" name="TextBox 31"/>
            <p:cNvSpPr txBox="1"/>
            <p:nvPr/>
          </p:nvSpPr>
          <p:spPr>
            <a:xfrm rot="1851826">
              <a:off x="2615296" y="5288868"/>
              <a:ext cx="1371600" cy="3798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Rules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 rot="16200000">
              <a:off x="7477022" y="2176624"/>
              <a:ext cx="1828800" cy="3798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Accountability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 rot="19887021">
              <a:off x="8515834" y="606553"/>
              <a:ext cx="228600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Community members care a great deal that others follow the rules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 rot="19814100">
              <a:off x="8518962" y="2078820"/>
              <a:ext cx="228600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Community members care very little if others follow the rules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 rot="19226394">
              <a:off x="1166951" y="5326461"/>
              <a:ext cx="182880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dirty="0"/>
                <a:t>Fairly rigid about community rules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 rot="19216229">
              <a:off x="2706027" y="6050952"/>
              <a:ext cx="16459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dirty="0"/>
                <a:t>Flexible about the rules</a:t>
              </a:r>
            </a:p>
          </p:txBody>
        </p:sp>
        <p:sp>
          <p:nvSpPr>
            <p:cNvPr id="24" name="Rectangle 23"/>
            <p:cNvSpPr/>
            <p:nvPr/>
          </p:nvSpPr>
          <p:spPr>
            <a:xfrm>
              <a:off x="2313117" y="2339425"/>
              <a:ext cx="1371600" cy="1371600"/>
            </a:xfrm>
            <a:prstGeom prst="rect">
              <a:avLst/>
            </a:prstGeom>
            <a:solidFill>
              <a:schemeClr val="accent6"/>
            </a:solidFill>
            <a:scene3d>
              <a:camera prst="isometricLeftDown"/>
              <a:lightRig rig="threePt" dir="t"/>
            </a:scene3d>
            <a:sp3d extrusionH="1270000">
              <a:extrusionClr>
                <a:schemeClr val="accent6">
                  <a:lumMod val="75000"/>
                </a:schemeClr>
              </a:extrusionClr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Business Approach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3564098" y="4485968"/>
              <a:ext cx="1371600" cy="1371600"/>
            </a:xfrm>
            <a:prstGeom prst="rect">
              <a:avLst/>
            </a:prstGeom>
            <a:scene3d>
              <a:camera prst="isometricLeftDown"/>
              <a:lightRig rig="threePt" dir="t"/>
            </a:scene3d>
            <a:sp3d extrusionH="12700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Freeform: Shape 37"/>
            <p:cNvSpPr/>
            <p:nvPr/>
          </p:nvSpPr>
          <p:spPr>
            <a:xfrm>
              <a:off x="1633483" y="3263711"/>
              <a:ext cx="7793501" cy="2799470"/>
            </a:xfrm>
            <a:custGeom>
              <a:avLst/>
              <a:gdLst>
                <a:gd name="connsiteX0" fmla="*/ 0 w 7793501"/>
                <a:gd name="connsiteY0" fmla="*/ 1012873 h 2799470"/>
                <a:gd name="connsiteX1" fmla="*/ 3108960 w 7793501"/>
                <a:gd name="connsiteY1" fmla="*/ 2799470 h 2799470"/>
                <a:gd name="connsiteX2" fmla="*/ 7793501 w 7793501"/>
                <a:gd name="connsiteY2" fmla="*/ 0 h 27994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793501" h="2799470">
                  <a:moveTo>
                    <a:pt x="0" y="1012873"/>
                  </a:moveTo>
                  <a:lnTo>
                    <a:pt x="3108960" y="2799470"/>
                  </a:lnTo>
                  <a:lnTo>
                    <a:pt x="7793501" y="0"/>
                  </a:lnTo>
                </a:path>
              </a:pathLst>
            </a:custGeom>
            <a:noFill/>
            <a:ln w="25400">
              <a:solidFill>
                <a:schemeClr val="tx1"/>
              </a:solidFill>
              <a:headEnd type="triangle" w="lg" len="med"/>
              <a:tailEnd type="triangle" w="lg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Straight Arrow Connector 25"/>
            <p:cNvCxnSpPr/>
            <p:nvPr/>
          </p:nvCxnSpPr>
          <p:spPr>
            <a:xfrm flipV="1">
              <a:off x="8201508" y="326171"/>
              <a:ext cx="0" cy="3657600"/>
            </a:xfrm>
            <a:prstGeom prst="straightConnector1">
              <a:avLst/>
            </a:prstGeom>
            <a:ln w="25400">
              <a:solidFill>
                <a:schemeClr val="bg2">
                  <a:lumMod val="50000"/>
                </a:schemeClr>
              </a:solidFill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Rectangle 22"/>
            <p:cNvSpPr/>
            <p:nvPr/>
          </p:nvSpPr>
          <p:spPr>
            <a:xfrm>
              <a:off x="3570486" y="3113368"/>
              <a:ext cx="1371600" cy="1371600"/>
            </a:xfrm>
            <a:prstGeom prst="rect">
              <a:avLst/>
            </a:prstGeom>
            <a:solidFill>
              <a:schemeClr val="accent4"/>
            </a:solidFill>
            <a:scene3d>
              <a:camera prst="isometricLeftDown"/>
              <a:lightRig rig="threePt" dir="t"/>
            </a:scene3d>
            <a:sp3d extrusionH="1270000">
              <a:extrusionClr>
                <a:schemeClr val="accent4">
                  <a:lumMod val="75000"/>
                </a:schemeClr>
              </a:extrusionClr>
            </a:sp3d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Consumer</a:t>
              </a:r>
            </a:p>
            <a:p>
              <a:pPr algn="ctr"/>
              <a:r>
                <a:rPr lang="en-US" dirty="0"/>
                <a:t>Approach</a:t>
              </a:r>
            </a:p>
          </p:txBody>
        </p:sp>
        <p:cxnSp>
          <p:nvCxnSpPr>
            <p:cNvPr id="40" name="Straight Arrow Connector 39"/>
            <p:cNvCxnSpPr>
              <a:stCxn id="38" idx="1"/>
            </p:cNvCxnSpPr>
            <p:nvPr/>
          </p:nvCxnSpPr>
          <p:spPr>
            <a:xfrm flipV="1">
              <a:off x="4742443" y="1068430"/>
              <a:ext cx="0" cy="4994751"/>
            </a:xfrm>
            <a:prstGeom prst="straightConnector1">
              <a:avLst/>
            </a:prstGeom>
            <a:ln w="25400">
              <a:solidFill>
                <a:schemeClr val="bg2">
                  <a:lumMod val="50000"/>
                </a:schemeClr>
              </a:solidFill>
              <a:tailEnd type="triangle" w="lg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23363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4833633" y="2224876"/>
            <a:ext cx="1371600" cy="1371600"/>
          </a:xfrm>
          <a:prstGeom prst="rect">
            <a:avLst/>
          </a:prstGeom>
          <a:solidFill>
            <a:schemeClr val="bg1">
              <a:lumMod val="65000"/>
            </a:schemeClr>
          </a:solidFill>
          <a:scene3d>
            <a:camera prst="isometricLeftDown"/>
            <a:lightRig rig="threePt" dir="t"/>
          </a:scene3d>
          <a:sp3d extrusionH="1270000">
            <a:extrusionClr>
              <a:schemeClr val="bg1">
                <a:lumMod val="75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Nationalistic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4433" y="838737"/>
            <a:ext cx="1371600" cy="1371600"/>
          </a:xfrm>
          <a:prstGeom prst="rect">
            <a:avLst/>
          </a:prstGeom>
          <a:solidFill>
            <a:schemeClr val="accent1"/>
          </a:solidFill>
          <a:scene3d>
            <a:camera prst="isometricLeftDown"/>
            <a:lightRig rig="threePt" dir="t"/>
          </a:scene3d>
          <a:sp3d extrusionH="1270000">
            <a:extrusionClr>
              <a:schemeClr val="accent5">
                <a:lumMod val="75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6110029" y="2959130"/>
            <a:ext cx="1371600" cy="1371600"/>
          </a:xfrm>
          <a:prstGeom prst="rect">
            <a:avLst/>
          </a:prstGeom>
          <a:solidFill>
            <a:srgbClr val="7030A0"/>
          </a:solidFill>
          <a:scene3d>
            <a:camera prst="isometricLeftDown"/>
            <a:lightRig rig="threePt" dir="t"/>
          </a:scene3d>
          <a:sp3d extrusionH="1270000">
            <a:extrusionClr>
              <a:schemeClr val="accent5">
                <a:lumMod val="50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Tribalistic</a:t>
            </a:r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6110029" y="1562929"/>
            <a:ext cx="1371600" cy="1371600"/>
          </a:xfrm>
          <a:prstGeom prst="rect">
            <a:avLst/>
          </a:prstGeom>
          <a:solidFill>
            <a:schemeClr val="accent1"/>
          </a:solidFill>
          <a:scene3d>
            <a:camera prst="isometricLeftDown"/>
            <a:lightRig rig="threePt" dir="t"/>
          </a:scene3d>
          <a:sp3d extrusionH="1270000">
            <a:extrusionClr>
              <a:schemeClr val="accent5">
                <a:lumMod val="75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/>
          <p:cNvSpPr/>
          <p:nvPr/>
        </p:nvSpPr>
        <p:spPr>
          <a:xfrm>
            <a:off x="2314544" y="3765848"/>
            <a:ext cx="1371600" cy="1371600"/>
          </a:xfrm>
          <a:prstGeom prst="rect">
            <a:avLst/>
          </a:prstGeom>
          <a:scene3d>
            <a:camera prst="isometricLeftDown"/>
            <a:lightRig rig="threePt" dir="t"/>
          </a:scene3d>
          <a:sp3d extrusionH="12700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TextBox 28"/>
          <p:cNvSpPr txBox="1"/>
          <p:nvPr/>
        </p:nvSpPr>
        <p:spPr>
          <a:xfrm rot="19705333">
            <a:off x="5993001" y="4827571"/>
            <a:ext cx="1828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Membership</a:t>
            </a:r>
          </a:p>
        </p:txBody>
      </p:sp>
      <p:sp>
        <p:nvSpPr>
          <p:cNvPr id="30" name="TextBox 29"/>
          <p:cNvSpPr txBox="1"/>
          <p:nvPr/>
        </p:nvSpPr>
        <p:spPr>
          <a:xfrm rot="2239251">
            <a:off x="7664732" y="4480957"/>
            <a:ext cx="1371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Membership is restricted</a:t>
            </a:r>
          </a:p>
        </p:txBody>
      </p:sp>
      <p:sp>
        <p:nvSpPr>
          <p:cNvPr id="31" name="TextBox 30"/>
          <p:cNvSpPr txBox="1"/>
          <p:nvPr/>
        </p:nvSpPr>
        <p:spPr>
          <a:xfrm rot="2300708">
            <a:off x="5006913" y="5997297"/>
            <a:ext cx="1371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Membership is open</a:t>
            </a:r>
          </a:p>
        </p:txBody>
      </p:sp>
      <p:sp>
        <p:nvSpPr>
          <p:cNvPr id="32" name="TextBox 31"/>
          <p:cNvSpPr txBox="1"/>
          <p:nvPr/>
        </p:nvSpPr>
        <p:spPr>
          <a:xfrm rot="1851826">
            <a:off x="2615296" y="5288868"/>
            <a:ext cx="1371600" cy="379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Rules</a:t>
            </a:r>
          </a:p>
        </p:txBody>
      </p:sp>
      <p:sp>
        <p:nvSpPr>
          <p:cNvPr id="33" name="TextBox 32"/>
          <p:cNvSpPr txBox="1"/>
          <p:nvPr/>
        </p:nvSpPr>
        <p:spPr>
          <a:xfrm rot="16200000">
            <a:off x="7477022" y="2176624"/>
            <a:ext cx="1828800" cy="379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Accountability</a:t>
            </a:r>
          </a:p>
        </p:txBody>
      </p:sp>
      <p:sp>
        <p:nvSpPr>
          <p:cNvPr id="34" name="TextBox 33"/>
          <p:cNvSpPr txBox="1"/>
          <p:nvPr/>
        </p:nvSpPr>
        <p:spPr>
          <a:xfrm rot="19887021">
            <a:off x="8515834" y="606553"/>
            <a:ext cx="2286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Community members care a great deal that others follow the rules</a:t>
            </a:r>
          </a:p>
        </p:txBody>
      </p:sp>
      <p:sp>
        <p:nvSpPr>
          <p:cNvPr id="35" name="TextBox 34"/>
          <p:cNvSpPr txBox="1"/>
          <p:nvPr/>
        </p:nvSpPr>
        <p:spPr>
          <a:xfrm rot="19814100">
            <a:off x="8518962" y="2078820"/>
            <a:ext cx="2286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Community members care very little if others follow the rules</a:t>
            </a:r>
          </a:p>
        </p:txBody>
      </p:sp>
      <p:sp>
        <p:nvSpPr>
          <p:cNvPr id="36" name="TextBox 35"/>
          <p:cNvSpPr txBox="1"/>
          <p:nvPr/>
        </p:nvSpPr>
        <p:spPr>
          <a:xfrm rot="19226394">
            <a:off x="1166951" y="5326461"/>
            <a:ext cx="1828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Fairly rigid about community rules</a:t>
            </a:r>
          </a:p>
        </p:txBody>
      </p:sp>
      <p:sp>
        <p:nvSpPr>
          <p:cNvPr id="37" name="TextBox 36"/>
          <p:cNvSpPr txBox="1"/>
          <p:nvPr/>
        </p:nvSpPr>
        <p:spPr>
          <a:xfrm rot="19216229">
            <a:off x="2706027" y="6050952"/>
            <a:ext cx="16459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Flexible about the rules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13117" y="2339425"/>
            <a:ext cx="1371600" cy="1371600"/>
          </a:xfrm>
          <a:prstGeom prst="rect">
            <a:avLst/>
          </a:prstGeom>
          <a:solidFill>
            <a:schemeClr val="accent6"/>
          </a:solidFill>
          <a:scene3d>
            <a:camera prst="isometricLeftDown"/>
            <a:lightRig rig="threePt" dir="t"/>
          </a:scene3d>
          <a:sp3d extrusionH="1270000">
            <a:extrusionClr>
              <a:schemeClr val="accent6">
                <a:lumMod val="75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Commercial-</a:t>
            </a:r>
            <a:r>
              <a:rPr lang="en-US" dirty="0" err="1"/>
              <a:t>istic</a:t>
            </a:r>
            <a:endParaRPr lang="en-US" dirty="0"/>
          </a:p>
        </p:txBody>
      </p:sp>
      <p:sp>
        <p:nvSpPr>
          <p:cNvPr id="25" name="Rectangle 24"/>
          <p:cNvSpPr/>
          <p:nvPr/>
        </p:nvSpPr>
        <p:spPr>
          <a:xfrm>
            <a:off x="3564098" y="4485968"/>
            <a:ext cx="1371600" cy="1371600"/>
          </a:xfrm>
          <a:prstGeom prst="rect">
            <a:avLst/>
          </a:prstGeom>
          <a:scene3d>
            <a:camera prst="isometricLeftDown"/>
            <a:lightRig rig="threePt" dir="t"/>
          </a:scene3d>
          <a:sp3d extrusionH="12700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Freeform: Shape 37"/>
          <p:cNvSpPr/>
          <p:nvPr/>
        </p:nvSpPr>
        <p:spPr>
          <a:xfrm>
            <a:off x="1633483" y="3263711"/>
            <a:ext cx="7793501" cy="2799470"/>
          </a:xfrm>
          <a:custGeom>
            <a:avLst/>
            <a:gdLst>
              <a:gd name="connsiteX0" fmla="*/ 0 w 7793501"/>
              <a:gd name="connsiteY0" fmla="*/ 1012873 h 2799470"/>
              <a:gd name="connsiteX1" fmla="*/ 3108960 w 7793501"/>
              <a:gd name="connsiteY1" fmla="*/ 2799470 h 2799470"/>
              <a:gd name="connsiteX2" fmla="*/ 7793501 w 7793501"/>
              <a:gd name="connsiteY2" fmla="*/ 0 h 27994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793501" h="2799470">
                <a:moveTo>
                  <a:pt x="0" y="1012873"/>
                </a:moveTo>
                <a:lnTo>
                  <a:pt x="3108960" y="2799470"/>
                </a:lnTo>
                <a:lnTo>
                  <a:pt x="7793501" y="0"/>
                </a:lnTo>
              </a:path>
            </a:pathLst>
          </a:custGeom>
          <a:noFill/>
          <a:ln w="25400">
            <a:solidFill>
              <a:schemeClr val="tx1"/>
            </a:solidFill>
            <a:headEnd type="triangle" w="lg" len="med"/>
            <a:tailEnd type="triangle" w="lg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/>
          <p:cNvCxnSpPr/>
          <p:nvPr/>
        </p:nvCxnSpPr>
        <p:spPr>
          <a:xfrm flipV="1">
            <a:off x="8201508" y="326171"/>
            <a:ext cx="0" cy="3657600"/>
          </a:xfrm>
          <a:prstGeom prst="straightConnector1">
            <a:avLst/>
          </a:prstGeom>
          <a:ln w="25400">
            <a:solidFill>
              <a:schemeClr val="bg2">
                <a:lumMod val="50000"/>
              </a:schemeClr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3570486" y="3113368"/>
            <a:ext cx="1371600" cy="1371600"/>
          </a:xfrm>
          <a:prstGeom prst="rect">
            <a:avLst/>
          </a:prstGeom>
          <a:solidFill>
            <a:schemeClr val="accent4"/>
          </a:solidFill>
          <a:scene3d>
            <a:camera prst="isometricLeftDown"/>
            <a:lightRig rig="threePt" dir="t"/>
          </a:scene3d>
          <a:sp3d extrusionH="1270000">
            <a:extrusionClr>
              <a:schemeClr val="accent4">
                <a:lumMod val="75000"/>
              </a:schemeClr>
            </a:extrusion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Individual-</a:t>
            </a:r>
            <a:r>
              <a:rPr lang="en-US" dirty="0" err="1"/>
              <a:t>istic</a:t>
            </a:r>
            <a:endParaRPr lang="en-US" dirty="0"/>
          </a:p>
        </p:txBody>
      </p:sp>
      <p:cxnSp>
        <p:nvCxnSpPr>
          <p:cNvPr id="40" name="Straight Arrow Connector 39"/>
          <p:cNvCxnSpPr>
            <a:stCxn id="38" idx="1"/>
          </p:cNvCxnSpPr>
          <p:nvPr/>
        </p:nvCxnSpPr>
        <p:spPr>
          <a:xfrm flipV="1">
            <a:off x="4742443" y="1068430"/>
            <a:ext cx="0" cy="4994751"/>
          </a:xfrm>
          <a:prstGeom prst="straightConnector1">
            <a:avLst/>
          </a:prstGeom>
          <a:ln w="25400">
            <a:solidFill>
              <a:schemeClr val="bg2">
                <a:lumMod val="50000"/>
              </a:schemeClr>
            </a:solidFill>
            <a:tailEnd type="triangl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81579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</TotalTime>
  <Words>90</Words>
  <Application>Microsoft Office PowerPoint</Application>
  <PresentationFormat>Widescreen</PresentationFormat>
  <Paragraphs>27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Malcolm Townes</dc:creator>
  <cp:lastModifiedBy>Malcolm Townes</cp:lastModifiedBy>
  <cp:revision>29</cp:revision>
  <cp:lastPrinted>2019-10-09T20:52:31Z</cp:lastPrinted>
  <dcterms:created xsi:type="dcterms:W3CDTF">2019-10-02T23:29:16Z</dcterms:created>
  <dcterms:modified xsi:type="dcterms:W3CDTF">2019-10-17T22:03:16Z</dcterms:modified>
</cp:coreProperties>
</file>